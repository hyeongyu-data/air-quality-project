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txBody>
          <a:bodyPr/>
          <a:lstStyle/>
          <a:p/>
        </p:txBody>
      </p:sp>
      <p:sp>
        <p:nvSpPr>
          <p:cNvPr id="2" name="accent"/>
          <p:cNvSpPr/>
          <p:nvPr/>
        </p:nvSpPr>
        <p:spPr>
          <a:xfrm>
            <a:off x="502920" y="502920"/>
            <a:ext cx="118872" cy="5303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3" name="kicker"/>
          <p:cNvSpPr/>
          <p:nvPr/>
        </p:nvSpPr>
        <p:spPr>
          <a:xfrm>
            <a:off x="822960" y="77724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300" b="1">
                <a:solidFill>
                  <a:srgbClr val="2DD4BF"/>
                </a:solidFill>
                <a:latin typeface="Apple SD Gothic Neo"/>
                <a:ea typeface="Apple SD Gothic Neo"/>
              </a:rPr>
              <a:t>LOCAL WEATHER ALERT + AWS MEDALLION PIPELINE</a:t>
            </a:r>
          </a:p>
        </p:txBody>
      </p:sp>
      <p:sp>
        <p:nvSpPr>
          <p:cNvPr id="4" name="main-title"/>
          <p:cNvSpPr/>
          <p:nvPr/>
        </p:nvSpPr>
        <p:spPr>
          <a:xfrm>
            <a:off x="786384" y="1234440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3600" b="1">
                <a:solidFill>
                  <a:srgbClr val="F8FAFC"/>
                </a:solidFill>
                <a:latin typeface="Apple SD Gothic Neo"/>
                <a:ea typeface="Apple SD Gothic Neo"/>
              </a:rPr>
              <a:t>서울 기상 알림 시스템</a:t>
            </a:r>
          </a:p>
          <a:p>
            <a:pPr/>
            <a:r>
              <a:rPr lang="ko-KR" sz="3600" b="1">
                <a:solidFill>
                  <a:srgbClr val="F8FAFC"/>
                </a:solidFill>
                <a:latin typeface="Apple SD Gothic Neo"/>
                <a:ea typeface="Apple SD Gothic Neo"/>
              </a:rPr>
              <a:t>구축 결과 발표</a:t>
            </a:r>
          </a:p>
        </p:txBody>
      </p:sp>
      <p:sp>
        <p:nvSpPr>
          <p:cNvPr id="5" name="subtitle"/>
          <p:cNvSpPr/>
          <p:nvPr/>
        </p:nvSpPr>
        <p:spPr>
          <a:xfrm>
            <a:off x="822960" y="283464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800">
                <a:solidFill>
                  <a:srgbClr val="AAB3C5"/>
                </a:solidFill>
                <a:latin typeface="Apple SD Gothic Neo"/>
                <a:ea typeface="Apple SD Gothic Neo"/>
              </a:rPr>
              <a:t>Airflow, Kafka, Consumer 알림 파이프라인과</a:t>
            </a:r>
          </a:p>
          <a:p>
            <a:pPr/>
            <a:r>
              <a:rPr lang="ko-KR" sz="1800">
                <a:solidFill>
                  <a:srgbClr val="AAB3C5"/>
                </a:solidFill>
                <a:latin typeface="Apple SD Gothic Neo"/>
                <a:ea typeface="Apple SD Gothic Neo"/>
              </a:rPr>
              <a:t>Vector, Firehose, S3, Glue 기반 로그 메달리언 구조까지</a:t>
            </a:r>
          </a:p>
        </p:txBody>
      </p:sp>
      <p:sp>
        <p:nvSpPr>
          <p:cNvPr id="10" name="Airflow"/>
          <p:cNvSpPr/>
          <p:nvPr/>
        </p:nvSpPr>
        <p:spPr>
          <a:xfrm>
            <a:off x="822960" y="5029200"/>
            <a:ext cx="1645920" cy="41148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anchor="mid"/>
          <a:lstStyle/>
          <a:p>
            <a:pPr algn="ctr"/>
            <a:r>
              <a:rPr lang="ko-KR" sz="1400" b="1">
                <a:solidFill>
                  <a:srgbClr val="0B1020"/>
                </a:solidFill>
                <a:latin typeface="Apple SD Gothic Neo"/>
                <a:ea typeface="Apple SD Gothic Neo"/>
              </a:rPr>
              <a:t>Airflow</a:t>
            </a:r>
          </a:p>
        </p:txBody>
      </p:sp>
      <p:sp>
        <p:nvSpPr>
          <p:cNvPr id="11" name="Kafka"/>
          <p:cNvSpPr/>
          <p:nvPr/>
        </p:nvSpPr>
        <p:spPr>
          <a:xfrm>
            <a:off x="2880360" y="5029200"/>
            <a:ext cx="1645920" cy="41148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txBody>
          <a:bodyPr wrap="square" anchor="mid"/>
          <a:lstStyle/>
          <a:p>
            <a:pPr algn="ctr"/>
            <a:r>
              <a:rPr lang="ko-KR" sz="1400" b="1">
                <a:solidFill>
                  <a:srgbClr val="0B1020"/>
                </a:solidFill>
                <a:latin typeface="Apple SD Gothic Neo"/>
                <a:ea typeface="Apple SD Gothic Neo"/>
              </a:rPr>
              <a:t>Kafka</a:t>
            </a:r>
          </a:p>
        </p:txBody>
      </p:sp>
      <p:sp>
        <p:nvSpPr>
          <p:cNvPr id="12" name="Rules"/>
          <p:cNvSpPr/>
          <p:nvPr/>
        </p:nvSpPr>
        <p:spPr>
          <a:xfrm>
            <a:off x="4937760" y="5029200"/>
            <a:ext cx="1645920" cy="411480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anchor="mid"/>
          <a:lstStyle/>
          <a:p>
            <a:pPr algn="ctr"/>
            <a:r>
              <a:rPr lang="ko-KR" sz="1400" b="1">
                <a:solidFill>
                  <a:srgbClr val="0B1020"/>
                </a:solidFill>
                <a:latin typeface="Apple SD Gothic Neo"/>
                <a:ea typeface="Apple SD Gothic Neo"/>
              </a:rPr>
              <a:t>Rules</a:t>
            </a:r>
          </a:p>
        </p:txBody>
      </p:sp>
      <p:sp>
        <p:nvSpPr>
          <p:cNvPr id="13" name="Kakao/Email"/>
          <p:cNvSpPr/>
          <p:nvPr/>
        </p:nvSpPr>
        <p:spPr>
          <a:xfrm>
            <a:off x="6995160" y="5029200"/>
            <a:ext cx="1645920" cy="41148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anchor="mid"/>
          <a:lstStyle/>
          <a:p>
            <a:pPr algn="ctr"/>
            <a:r>
              <a:rPr lang="ko-KR" sz="1400" b="1">
                <a:solidFill>
                  <a:srgbClr val="0B1020"/>
                </a:solidFill>
                <a:latin typeface="Apple SD Gothic Neo"/>
                <a:ea typeface="Apple SD Gothic Neo"/>
              </a:rPr>
              <a:t>Kakao/Email</a:t>
            </a:r>
          </a:p>
        </p:txBody>
      </p:sp>
      <p:sp>
        <p:nvSpPr>
          <p:cNvPr id="14" name="S3 Medallion"/>
          <p:cNvSpPr/>
          <p:nvPr/>
        </p:nvSpPr>
        <p:spPr>
          <a:xfrm>
            <a:off x="9052560" y="5029200"/>
            <a:ext cx="1645920" cy="41148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anchor="mid"/>
          <a:lstStyle/>
          <a:p>
            <a:pPr algn="ctr"/>
            <a:r>
              <a:rPr lang="ko-KR" sz="1400" b="1">
                <a:solidFill>
                  <a:srgbClr val="0B1020"/>
                </a:solidFill>
                <a:latin typeface="Apple SD Gothic Neo"/>
                <a:ea typeface="Apple SD Gothic Neo"/>
              </a:rPr>
              <a:t>S3 Medallion</a:t>
            </a:r>
          </a:p>
        </p:txBody>
      </p:sp>
      <p:sp>
        <p:nvSpPr>
          <p:cNvPr id="30" name="date"/>
          <p:cNvSpPr/>
          <p:nvPr/>
        </p:nvSpPr>
        <p:spPr>
          <a:xfrm>
            <a:off x="822960" y="59893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>
                <a:solidFill>
                  <a:srgbClr val="AAB3C5"/>
                </a:solidFill>
                <a:latin typeface="Apple SD Gothic Neo"/>
                <a:ea typeface="Apple SD Gothic Neo"/>
              </a:rPr>
              <a:t>2026.05.07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txBody>
          <a:bodyPr/>
          <a:lstStyle/>
          <a:p/>
        </p:txBody>
      </p:sp>
      <p:sp>
        <p:nvSpPr>
          <p:cNvPr id="50" name="kicker"/>
          <p:cNvSpPr/>
          <p:nvPr/>
        </p:nvSpPr>
        <p:spPr>
          <a:xfrm>
            <a:off x="502920" y="25603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 b="1">
                <a:solidFill>
                  <a:srgbClr val="2DD4BF"/>
                </a:solidFill>
                <a:latin typeface="Apple SD Gothic Neo"/>
                <a:ea typeface="Apple SD Gothic Neo"/>
              </a:rPr>
              <a:t>EXECUTIVE SUMMARY</a:t>
            </a:r>
          </a:p>
        </p:txBody>
      </p:sp>
      <p:sp>
        <p:nvSpPr>
          <p:cNvPr id="51" name="title"/>
          <p:cNvSpPr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2500" b="1">
                <a:solidFill>
                  <a:srgbClr val="F8FAFC"/>
                </a:solidFill>
                <a:latin typeface="Apple SD Gothic Neo"/>
                <a:ea typeface="Apple SD Gothic Neo"/>
              </a:rPr>
              <a:t>이번 작업의 핵심 결과</a:t>
            </a:r>
          </a:p>
        </p:txBody>
      </p:sp>
      <p:sp>
        <p:nvSpPr>
          <p:cNvPr id="52" name="footer"/>
          <p:cNvSpPr/>
          <p:nvPr/>
        </p:nvSpPr>
        <p:spPr>
          <a:xfrm>
            <a:off x="502920" y="6400800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air-quality-project | 2026-05-07</a:t>
            </a:r>
          </a:p>
        </p:txBody>
      </p:sp>
      <p:sp>
        <p:nvSpPr>
          <p:cNvPr id="53" name="page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2</a:t>
            </a:r>
          </a:p>
        </p:txBody>
      </p:sp>
      <p:sp>
        <p:nvSpPr>
          <p:cNvPr id="3" name="panel-3"/>
          <p:cNvSpPr/>
          <p:nvPr/>
        </p:nvSpPr>
        <p:spPr>
          <a:xfrm>
            <a:off x="685800" y="1417320"/>
            <a:ext cx="3429000" cy="425196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60A5FA"/>
            </a:solidFill>
          </a:ln>
        </p:spPr>
        <p:txBody>
          <a:bodyPr/>
          <a:lstStyle/>
          <a:p/>
        </p:txBody>
      </p:sp>
      <p:sp>
        <p:nvSpPr>
          <p:cNvPr id="103" name="panel-text-3"/>
          <p:cNvSpPr/>
          <p:nvPr/>
        </p:nvSpPr>
        <p:spPr>
          <a:xfrm>
            <a:off x="886968" y="1563624"/>
            <a:ext cx="3026664" cy="399592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기상 알림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서울 기준 9개 지표로 축소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매 시간 Airflow 수집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Consumer 규칙 기반 행동 권고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메일/카카오/Slack/콘솔 발송</a:t>
            </a:r>
          </a:p>
        </p:txBody>
      </p:sp>
      <p:sp>
        <p:nvSpPr>
          <p:cNvPr id="4" name="panel-4"/>
          <p:cNvSpPr/>
          <p:nvPr/>
        </p:nvSpPr>
        <p:spPr>
          <a:xfrm>
            <a:off x="4407408" y="1417320"/>
            <a:ext cx="3429000" cy="425196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104" name="panel-text-4"/>
          <p:cNvSpPr/>
          <p:nvPr/>
        </p:nvSpPr>
        <p:spPr>
          <a:xfrm>
            <a:off x="4608576" y="1563624"/>
            <a:ext cx="3026664" cy="399592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로컬 로그 파이프라인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Python 로그 생성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Fluent Bit 파일 tail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JSON은 Kafka 직행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Text는 Logstash grok 후 Kafka</a:t>
            </a:r>
          </a:p>
        </p:txBody>
      </p:sp>
      <p:sp>
        <p:nvSpPr>
          <p:cNvPr id="5" name="panel-5"/>
          <p:cNvSpPr/>
          <p:nvPr/>
        </p:nvSpPr>
        <p:spPr>
          <a:xfrm>
            <a:off x="8138160" y="1417320"/>
            <a:ext cx="3429000" cy="425196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05" name="panel-text-5"/>
          <p:cNvSpPr/>
          <p:nvPr/>
        </p:nvSpPr>
        <p:spPr>
          <a:xfrm>
            <a:off x="8339328" y="1563624"/>
            <a:ext cx="3026664" cy="399592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AWS 메달리언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Vector -&gt; Firehose -&gt; S3 Bronze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Glue Bronze -&gt; Silver 정제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Glue Silver -&gt; Gold 시간 집계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Athena/Glue Catalog 조회 기반 마련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txBody>
          <a:bodyPr/>
          <a:lstStyle/>
          <a:p/>
        </p:txBody>
      </p:sp>
      <p:sp>
        <p:nvSpPr>
          <p:cNvPr id="50" name="kicker"/>
          <p:cNvSpPr/>
          <p:nvPr/>
        </p:nvSpPr>
        <p:spPr>
          <a:xfrm>
            <a:off x="502920" y="25603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 b="1">
                <a:solidFill>
                  <a:srgbClr val="2DD4BF"/>
                </a:solidFill>
                <a:latin typeface="Apple SD Gothic Neo"/>
                <a:ea typeface="Apple SD Gothic Neo"/>
              </a:rPr>
              <a:t>WEATHER ALERT ARCHITECTURE</a:t>
            </a:r>
          </a:p>
        </p:txBody>
      </p:sp>
      <p:sp>
        <p:nvSpPr>
          <p:cNvPr id="51" name="title"/>
          <p:cNvSpPr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2500" b="1">
                <a:solidFill>
                  <a:srgbClr val="F8FAFC"/>
                </a:solidFill>
                <a:latin typeface="Apple SD Gothic Neo"/>
                <a:ea typeface="Apple SD Gothic Neo"/>
              </a:rPr>
              <a:t>기상 알림 파이프라인: 수집과 판정의 역할 분리</a:t>
            </a:r>
          </a:p>
        </p:txBody>
      </p:sp>
      <p:sp>
        <p:nvSpPr>
          <p:cNvPr id="52" name="footer"/>
          <p:cNvSpPr/>
          <p:nvPr/>
        </p:nvSpPr>
        <p:spPr>
          <a:xfrm>
            <a:off x="502920" y="6400800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air-quality-project | 2026-05-07</a:t>
            </a:r>
          </a:p>
        </p:txBody>
      </p:sp>
      <p:sp>
        <p:nvSpPr>
          <p:cNvPr id="53" name="page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3</a:t>
            </a:r>
          </a:p>
        </p:txBody>
      </p:sp>
      <p:sp>
        <p:nvSpPr>
          <p:cNvPr id="10" name="Airflow DAG 매 시간 실행"/>
          <p:cNvSpPr/>
          <p:nvPr/>
        </p:nvSpPr>
        <p:spPr>
          <a:xfrm>
            <a:off x="594360" y="2148840"/>
            <a:ext cx="1737360" cy="96012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60A5FA"/>
            </a:solidFill>
          </a:ln>
        </p:spPr>
        <p:txBody>
          <a:bodyPr wrap="square" anchor="mid"/>
          <a:lstStyle/>
          <a:p>
            <a:pPr algn="ctr"/>
            <a:r>
              <a:rPr lang="ko-KR" sz="1400" b="1">
                <a:solidFill>
                  <a:srgbClr val="F8FAFC"/>
                </a:solidFill>
                <a:latin typeface="Apple SD Gothic Neo"/>
                <a:ea typeface="Apple SD Gothic Neo"/>
              </a:rPr>
              <a:t>Airflow DAG</a:t>
            </a:r>
          </a:p>
          <a:p>
            <a:pPr algn="ctr"/>
            <a:r>
              <a:rPr lang="ko-KR" sz="1400" b="1">
                <a:solidFill>
                  <a:srgbClr val="F8FAFC"/>
                </a:solidFill>
                <a:latin typeface="Apple SD Gothic Neo"/>
                <a:ea typeface="Apple SD Gothic Neo"/>
              </a:rPr>
              <a:t>매 시간 실행</a:t>
            </a:r>
          </a:p>
        </p:txBody>
      </p:sp>
      <p:sp>
        <p:nvSpPr>
          <p:cNvPr id="30" name="arrow-30"/>
          <p:cNvSpPr/>
          <p:nvPr/>
        </p:nvSpPr>
        <p:spPr>
          <a:xfrm>
            <a:off x="2404872" y="2450592"/>
            <a:ext cx="411480" cy="320040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/>
          <a:lstStyle/>
          <a:p/>
        </p:txBody>
      </p:sp>
      <p:sp>
        <p:nvSpPr>
          <p:cNvPr id="11" name="Producer 기상청/에어코리아"/>
          <p:cNvSpPr/>
          <p:nvPr/>
        </p:nvSpPr>
        <p:spPr>
          <a:xfrm>
            <a:off x="2926079" y="2148840"/>
            <a:ext cx="1737360" cy="96012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2DD4BF"/>
            </a:solidFill>
          </a:ln>
        </p:spPr>
        <p:txBody>
          <a:bodyPr wrap="square" anchor="mid"/>
          <a:lstStyle/>
          <a:p>
            <a:pPr algn="ctr"/>
            <a:r>
              <a:rPr lang="ko-KR" sz="1400" b="1">
                <a:solidFill>
                  <a:srgbClr val="F8FAFC"/>
                </a:solidFill>
                <a:latin typeface="Apple SD Gothic Neo"/>
                <a:ea typeface="Apple SD Gothic Neo"/>
              </a:rPr>
              <a:t>Producer</a:t>
            </a:r>
          </a:p>
          <a:p>
            <a:pPr algn="ctr"/>
            <a:r>
              <a:rPr lang="ko-KR" sz="1400" b="1">
                <a:solidFill>
                  <a:srgbClr val="F8FAFC"/>
                </a:solidFill>
                <a:latin typeface="Apple SD Gothic Neo"/>
                <a:ea typeface="Apple SD Gothic Neo"/>
              </a:rPr>
              <a:t>기상청/에어코리아</a:t>
            </a:r>
          </a:p>
        </p:txBody>
      </p:sp>
      <p:sp>
        <p:nvSpPr>
          <p:cNvPr id="31" name="arrow-31"/>
          <p:cNvSpPr/>
          <p:nvPr/>
        </p:nvSpPr>
        <p:spPr>
          <a:xfrm>
            <a:off x="4736591" y="2450592"/>
            <a:ext cx="411480" cy="320040"/>
          </a:xfrm>
          <a:prstGeom prst="rightArrow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12" name="Kafka seoul-weather"/>
          <p:cNvSpPr/>
          <p:nvPr/>
        </p:nvSpPr>
        <p:spPr>
          <a:xfrm>
            <a:off x="5257800" y="2148840"/>
            <a:ext cx="1737360" cy="96012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FBBF24"/>
            </a:solidFill>
          </a:ln>
        </p:spPr>
        <p:txBody>
          <a:bodyPr wrap="square" anchor="mid"/>
          <a:lstStyle/>
          <a:p>
            <a:pPr algn="ctr"/>
            <a:r>
              <a:rPr lang="ko-KR" sz="1400" b="1">
                <a:solidFill>
                  <a:srgbClr val="F8FAFC"/>
                </a:solidFill>
                <a:latin typeface="Apple SD Gothic Neo"/>
                <a:ea typeface="Apple SD Gothic Neo"/>
              </a:rPr>
              <a:t>Kafka</a:t>
            </a:r>
          </a:p>
          <a:p>
            <a:pPr algn="ctr"/>
            <a:r>
              <a:rPr lang="ko-KR" sz="1400" b="1">
                <a:solidFill>
                  <a:srgbClr val="F8FAFC"/>
                </a:solidFill>
                <a:latin typeface="Apple SD Gothic Neo"/>
                <a:ea typeface="Apple SD Gothic Neo"/>
              </a:rPr>
              <a:t>seoul-weather</a:t>
            </a:r>
          </a:p>
        </p:txBody>
      </p:sp>
      <p:sp>
        <p:nvSpPr>
          <p:cNvPr id="32" name="arrow-32"/>
          <p:cNvSpPr/>
          <p:nvPr/>
        </p:nvSpPr>
        <p:spPr>
          <a:xfrm>
            <a:off x="7068312" y="2450592"/>
            <a:ext cx="411480" cy="320040"/>
          </a:xfrm>
          <a:prstGeom prst="rightArrow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13" name="Consumer rules.py 적용"/>
          <p:cNvSpPr/>
          <p:nvPr/>
        </p:nvSpPr>
        <p:spPr>
          <a:xfrm>
            <a:off x="7589519" y="2148840"/>
            <a:ext cx="1737360" cy="96012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34D399"/>
            </a:solidFill>
          </a:ln>
        </p:spPr>
        <p:txBody>
          <a:bodyPr wrap="square" anchor="mid"/>
          <a:lstStyle/>
          <a:p>
            <a:pPr algn="ctr"/>
            <a:r>
              <a:rPr lang="ko-KR" sz="1400" b="1">
                <a:solidFill>
                  <a:srgbClr val="F8FAFC"/>
                </a:solidFill>
                <a:latin typeface="Apple SD Gothic Neo"/>
                <a:ea typeface="Apple SD Gothic Neo"/>
              </a:rPr>
              <a:t>Consumer</a:t>
            </a:r>
          </a:p>
          <a:p>
            <a:pPr algn="ctr"/>
            <a:r>
              <a:rPr lang="ko-KR" sz="1400" b="1">
                <a:solidFill>
                  <a:srgbClr val="F8FAFC"/>
                </a:solidFill>
                <a:latin typeface="Apple SD Gothic Neo"/>
                <a:ea typeface="Apple SD Gothic Neo"/>
              </a:rPr>
              <a:t>rules.py 적용</a:t>
            </a:r>
          </a:p>
        </p:txBody>
      </p:sp>
      <p:sp>
        <p:nvSpPr>
          <p:cNvPr id="33" name="arrow-33"/>
          <p:cNvSpPr/>
          <p:nvPr/>
        </p:nvSpPr>
        <p:spPr>
          <a:xfrm>
            <a:off x="9400031" y="2450592"/>
            <a:ext cx="411480" cy="320040"/>
          </a:xfrm>
          <a:prstGeom prst="rightArrow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4" name="알림/저장 OpenSearch·Email·Kakao"/>
          <p:cNvSpPr/>
          <p:nvPr/>
        </p:nvSpPr>
        <p:spPr>
          <a:xfrm>
            <a:off x="9921240" y="2148840"/>
            <a:ext cx="1737360" cy="96012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A78BFA"/>
            </a:solidFill>
          </a:ln>
        </p:spPr>
        <p:txBody>
          <a:bodyPr wrap="square" anchor="mid"/>
          <a:lstStyle/>
          <a:p>
            <a:pPr algn="ctr"/>
            <a:r>
              <a:rPr lang="ko-KR" sz="1400" b="1">
                <a:solidFill>
                  <a:srgbClr val="F8FAFC"/>
                </a:solidFill>
                <a:latin typeface="Apple SD Gothic Neo"/>
                <a:ea typeface="Apple SD Gothic Neo"/>
              </a:rPr>
              <a:t>알림/저장</a:t>
            </a:r>
          </a:p>
          <a:p>
            <a:pPr algn="ctr"/>
            <a:r>
              <a:rPr lang="ko-KR" sz="1400" b="1">
                <a:solidFill>
                  <a:srgbClr val="F8FAFC"/>
                </a:solidFill>
                <a:latin typeface="Apple SD Gothic Neo"/>
                <a:ea typeface="Apple SD Gothic Neo"/>
              </a:rPr>
              <a:t>OpenSearch·Email·Kakao</a:t>
            </a:r>
          </a:p>
        </p:txBody>
      </p:sp>
      <p:sp>
        <p:nvSpPr>
          <p:cNvPr id="60" name="note"/>
          <p:cNvSpPr/>
          <p:nvPr/>
        </p:nvSpPr>
        <p:spPr>
          <a:xfrm>
            <a:off x="777240" y="40690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800" b="1">
                <a:solidFill>
                  <a:srgbClr val="F8FAFC"/>
                </a:solidFill>
                <a:latin typeface="Apple SD Gothic Neo"/>
                <a:ea typeface="Apple SD Gothic Neo"/>
              </a:rPr>
              <a:t>설계 변경 포인트: Airflow는 데이터 수집과 Kafka 발행까지만 담당하고,</a:t>
            </a:r>
          </a:p>
          <a:p>
            <a:pPr/>
            <a:r>
              <a:rPr lang="ko-KR" sz="1800" b="1">
                <a:solidFill>
                  <a:srgbClr val="F8FAFC"/>
                </a:solidFill>
                <a:latin typeface="Apple SD Gothic Neo"/>
                <a:ea typeface="Apple SD Gothic Neo"/>
              </a:rPr>
              <a:t>Consumer가 Kafka 메시지를 읽어 규칙 판정, OpenSearch 저장, 콘솔/Slack/이메일/카카오 알림을 처리합니다.</a:t>
            </a:r>
          </a:p>
        </p:txBody>
      </p:sp>
      <p:sp>
        <p:nvSpPr>
          <p:cNvPr id="61" name="scope"/>
          <p:cNvSpPr/>
          <p:nvPr/>
        </p:nvSpPr>
        <p:spPr>
          <a:xfrm>
            <a:off x="777240" y="5285232"/>
            <a:ext cx="10515600" cy="5029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2DD4BF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대상 지표: 꽃가루참나무 · 꽃가루소나무 · 미세먼지 · 초미세먼지 · 황사 · 체감온도 · 기타특보 · 강수확률 · 자외선지수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txBody>
          <a:bodyPr/>
          <a:lstStyle/>
          <a:p/>
        </p:txBody>
      </p:sp>
      <p:sp>
        <p:nvSpPr>
          <p:cNvPr id="50" name="kicker"/>
          <p:cNvSpPr/>
          <p:nvPr/>
        </p:nvSpPr>
        <p:spPr>
          <a:xfrm>
            <a:off x="502920" y="25603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 b="1">
                <a:solidFill>
                  <a:srgbClr val="2DD4BF"/>
                </a:solidFill>
                <a:latin typeface="Apple SD Gothic Neo"/>
                <a:ea typeface="Apple SD Gothic Neo"/>
              </a:rPr>
              <a:t>SCHEDULING LOGIC</a:t>
            </a:r>
          </a:p>
        </p:txBody>
      </p:sp>
      <p:sp>
        <p:nvSpPr>
          <p:cNvPr id="51" name="title"/>
          <p:cNvSpPr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2500" b="1">
                <a:solidFill>
                  <a:srgbClr val="F8FAFC"/>
                </a:solidFill>
                <a:latin typeface="Apple SD Gothic Neo"/>
                <a:ea typeface="Apple SD Gothic Neo"/>
              </a:rPr>
              <a:t>알림 기준: 매 시간 실행, 시간대별 메시지 전략</a:t>
            </a:r>
          </a:p>
        </p:txBody>
      </p:sp>
      <p:sp>
        <p:nvSpPr>
          <p:cNvPr id="52" name="footer"/>
          <p:cNvSpPr/>
          <p:nvPr/>
        </p:nvSpPr>
        <p:spPr>
          <a:xfrm>
            <a:off x="502920" y="6400800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air-quality-project | 2026-05-07</a:t>
            </a:r>
          </a:p>
        </p:txBody>
      </p:sp>
      <p:sp>
        <p:nvSpPr>
          <p:cNvPr id="53" name="page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4</a:t>
            </a:r>
          </a:p>
        </p:txBody>
      </p:sp>
      <p:sp>
        <p:nvSpPr>
          <p:cNvPr id="7" name="table-bg"/>
          <p:cNvSpPr/>
          <p:nvPr/>
        </p:nvSpPr>
        <p:spPr>
          <a:xfrm>
            <a:off x="640080" y="1417320"/>
            <a:ext cx="10927080" cy="438912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60A5FA"/>
            </a:solidFill>
          </a:ln>
        </p:spPr>
        <p:txBody>
          <a:bodyPr/>
          <a:lstStyle/>
          <a:p/>
        </p:txBody>
      </p:sp>
      <p:sp>
        <p:nvSpPr>
          <p:cNvPr id="8" name="table-head"/>
          <p:cNvSpPr/>
          <p:nvPr/>
        </p:nvSpPr>
        <p:spPr>
          <a:xfrm>
            <a:off x="640080" y="1417320"/>
            <a:ext cx="10927080" cy="50292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anchor="mid"/>
          <a:lstStyle/>
          <a:p>
            <a:pPr/>
            <a:r>
              <a:rPr lang="ko-KR" sz="1500" b="1">
                <a:solidFill>
                  <a:srgbClr val="0B1020"/>
                </a:solidFill>
                <a:latin typeface="Apple SD Gothic Neo"/>
                <a:ea typeface="Apple SD Gothic Neo"/>
              </a:rPr>
              <a:t>실행 시각        알림 기준                         메시지 내용</a:t>
            </a:r>
          </a:p>
        </p:txBody>
      </p:sp>
      <p:sp>
        <p:nvSpPr>
          <p:cNvPr id="20" name="time"/>
          <p:cNvSpPr/>
          <p:nvPr/>
        </p:nvSpPr>
        <p:spPr>
          <a:xfrm>
            <a:off x="868680" y="20574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800" b="1">
                <a:solidFill>
                  <a:srgbClr val="2DD4BF"/>
                </a:solidFill>
                <a:latin typeface="Apple SD Gothic Neo"/>
                <a:ea typeface="Apple SD Gothic Neo"/>
              </a:rPr>
              <a:t>00시</a:t>
            </a:r>
          </a:p>
        </p:txBody>
      </p:sp>
      <p:sp>
        <p:nvSpPr>
          <p:cNvPr id="30" name="basis"/>
          <p:cNvSpPr/>
          <p:nvPr/>
        </p:nvSpPr>
        <p:spPr>
          <a:xfrm>
            <a:off x="2148840" y="205740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600" b="1">
                <a:solidFill>
                  <a:srgbClr val="F8FAFC"/>
                </a:solidFill>
                <a:latin typeface="Apple SD Gothic Neo"/>
                <a:ea typeface="Apple SD Gothic Neo"/>
              </a:rPr>
              <a:t>오늘 전체 예보</a:t>
            </a:r>
          </a:p>
        </p:txBody>
      </p:sp>
      <p:sp>
        <p:nvSpPr>
          <p:cNvPr id="40" name="desc"/>
          <p:cNvSpPr/>
          <p:nvPr/>
        </p:nvSpPr>
        <p:spPr>
          <a:xfrm>
            <a:off x="4526280" y="205740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300">
                <a:solidFill>
                  <a:srgbClr val="AAB3C5"/>
                </a:solidFill>
                <a:latin typeface="Apple SD Gothic Neo"/>
                <a:ea typeface="Apple SD Gothic Neo"/>
              </a:rPr>
              <a:t>오늘 대표 위험값, 최저/최고기온, 최대 강수확률</a:t>
            </a:r>
          </a:p>
        </p:txBody>
      </p:sp>
      <p:sp>
        <p:nvSpPr>
          <p:cNvPr id="21" name="time"/>
          <p:cNvSpPr/>
          <p:nvPr/>
        </p:nvSpPr>
        <p:spPr>
          <a:xfrm>
            <a:off x="868680" y="288036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800" b="1">
                <a:solidFill>
                  <a:srgbClr val="2DD4BF"/>
                </a:solidFill>
                <a:latin typeface="Apple SD Gothic Neo"/>
                <a:ea typeface="Apple SD Gothic Neo"/>
              </a:rPr>
              <a:t>06시</a:t>
            </a:r>
          </a:p>
        </p:txBody>
      </p:sp>
      <p:sp>
        <p:nvSpPr>
          <p:cNvPr id="31" name="basis"/>
          <p:cNvSpPr/>
          <p:nvPr/>
        </p:nvSpPr>
        <p:spPr>
          <a:xfrm>
            <a:off x="2148840" y="288036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600" b="1">
                <a:solidFill>
                  <a:srgbClr val="F8FAFC"/>
                </a:solidFill>
                <a:latin typeface="Apple SD Gothic Neo"/>
                <a:ea typeface="Apple SD Gothic Neo"/>
              </a:rPr>
              <a:t>아침 요약 + 현재값</a:t>
            </a:r>
          </a:p>
        </p:txBody>
      </p:sp>
      <p:sp>
        <p:nvSpPr>
          <p:cNvPr id="41" name="desc"/>
          <p:cNvSpPr/>
          <p:nvPr/>
        </p:nvSpPr>
        <p:spPr>
          <a:xfrm>
            <a:off x="4526280" y="288036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300">
                <a:solidFill>
                  <a:srgbClr val="AAB3C5"/>
                </a:solidFill>
                <a:latin typeface="Apple SD Gothic Neo"/>
                <a:ea typeface="Apple SD Gothic Neo"/>
              </a:rPr>
              <a:t>오늘 최저/최고, 최대 강수확률, 현재 PM10/PM2.5, 나머지 현재 기준</a:t>
            </a:r>
          </a:p>
        </p:txBody>
      </p:sp>
      <p:sp>
        <p:nvSpPr>
          <p:cNvPr id="22" name="time"/>
          <p:cNvSpPr/>
          <p:nvPr/>
        </p:nvSpPr>
        <p:spPr>
          <a:xfrm>
            <a:off x="868680" y="370332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800" b="1">
                <a:solidFill>
                  <a:srgbClr val="2DD4BF"/>
                </a:solidFill>
                <a:latin typeface="Apple SD Gothic Neo"/>
                <a:ea typeface="Apple SD Gothic Neo"/>
              </a:rPr>
              <a:t>12시</a:t>
            </a:r>
          </a:p>
        </p:txBody>
      </p:sp>
      <p:sp>
        <p:nvSpPr>
          <p:cNvPr id="32" name="basis"/>
          <p:cNvSpPr/>
          <p:nvPr/>
        </p:nvSpPr>
        <p:spPr>
          <a:xfrm>
            <a:off x="2148840" y="37033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600" b="1">
                <a:solidFill>
                  <a:srgbClr val="F8FAFC"/>
                </a:solidFill>
                <a:latin typeface="Apple SD Gothic Neo"/>
                <a:ea typeface="Apple SD Gothic Neo"/>
              </a:rPr>
              <a:t>현재 기준</a:t>
            </a:r>
          </a:p>
        </p:txBody>
      </p:sp>
      <p:sp>
        <p:nvSpPr>
          <p:cNvPr id="42" name="desc"/>
          <p:cNvSpPr/>
          <p:nvPr/>
        </p:nvSpPr>
        <p:spPr>
          <a:xfrm>
            <a:off x="4526280" y="370332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300">
                <a:solidFill>
                  <a:srgbClr val="AAB3C5"/>
                </a:solidFill>
                <a:latin typeface="Apple SD Gothic Neo"/>
                <a:ea typeface="Apple SD Gothic Neo"/>
              </a:rPr>
              <a:t>현재 꽃가루, 대기질, 황사, 체감온도, 특보 신호, 강수확률, 자외선</a:t>
            </a:r>
          </a:p>
        </p:txBody>
      </p:sp>
      <p:sp>
        <p:nvSpPr>
          <p:cNvPr id="23" name="time"/>
          <p:cNvSpPr/>
          <p:nvPr/>
        </p:nvSpPr>
        <p:spPr>
          <a:xfrm>
            <a:off x="868680" y="45262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800" b="1">
                <a:solidFill>
                  <a:srgbClr val="2DD4BF"/>
                </a:solidFill>
                <a:latin typeface="Apple SD Gothic Neo"/>
                <a:ea typeface="Apple SD Gothic Neo"/>
              </a:rPr>
              <a:t>18시 및 기타 시간</a:t>
            </a:r>
          </a:p>
        </p:txBody>
      </p:sp>
      <p:sp>
        <p:nvSpPr>
          <p:cNvPr id="33" name="basis"/>
          <p:cNvSpPr/>
          <p:nvPr/>
        </p:nvSpPr>
        <p:spPr>
          <a:xfrm>
            <a:off x="2148840" y="452628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600" b="1">
                <a:solidFill>
                  <a:srgbClr val="F8FAFC"/>
                </a:solidFill>
                <a:latin typeface="Apple SD Gothic Neo"/>
                <a:ea typeface="Apple SD Gothic Neo"/>
              </a:rPr>
              <a:t>현재 기준</a:t>
            </a:r>
          </a:p>
        </p:txBody>
      </p:sp>
      <p:sp>
        <p:nvSpPr>
          <p:cNvPr id="43" name="desc"/>
          <p:cNvSpPr/>
          <p:nvPr/>
        </p:nvSpPr>
        <p:spPr>
          <a:xfrm>
            <a:off x="4526280" y="45262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300">
                <a:solidFill>
                  <a:srgbClr val="AAB3C5"/>
                </a:solidFill>
                <a:latin typeface="Apple SD Gothic Neo"/>
                <a:ea typeface="Apple SD Gothic Neo"/>
              </a:rPr>
              <a:t>가장 최근 관측/예보값으로 행동 권고 생성</a:t>
            </a:r>
          </a:p>
        </p:txBody>
      </p:sp>
      <p:sp>
        <p:nvSpPr>
          <p:cNvPr id="70" name="cron"/>
          <p:cNvSpPr/>
          <p:nvPr/>
        </p:nvSpPr>
        <p:spPr>
          <a:xfrm>
            <a:off x="777240" y="596188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300" b="1">
                <a:solidFill>
                  <a:srgbClr val="FBBF24"/>
                </a:solidFill>
                <a:latin typeface="Apple SD Gothic Neo"/>
                <a:ea typeface="Apple SD Gothic Neo"/>
              </a:rPr>
              <a:t>Airflow schedule_interval = "0 * * * *"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txBody>
          <a:bodyPr/>
          <a:lstStyle/>
          <a:p/>
        </p:txBody>
      </p:sp>
      <p:sp>
        <p:nvSpPr>
          <p:cNvPr id="50" name="kicker"/>
          <p:cNvSpPr/>
          <p:nvPr/>
        </p:nvSpPr>
        <p:spPr>
          <a:xfrm>
            <a:off x="502920" y="25603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 b="1">
                <a:solidFill>
                  <a:srgbClr val="2DD4BF"/>
                </a:solidFill>
                <a:latin typeface="Apple SD Gothic Neo"/>
                <a:ea typeface="Apple SD Gothic Neo"/>
              </a:rPr>
              <a:t>LOCAL INGESTION</a:t>
            </a:r>
          </a:p>
        </p:txBody>
      </p:sp>
      <p:sp>
        <p:nvSpPr>
          <p:cNvPr id="51" name="title"/>
          <p:cNvSpPr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2500" b="1">
                <a:solidFill>
                  <a:srgbClr val="F8FAFC"/>
                </a:solidFill>
                <a:latin typeface="Apple SD Gothic Neo"/>
                <a:ea typeface="Apple SD Gothic Neo"/>
              </a:rPr>
              <a:t>로컬 센서 로그 수집: 파일에서 Kafka까지</a:t>
            </a:r>
          </a:p>
        </p:txBody>
      </p:sp>
      <p:sp>
        <p:nvSpPr>
          <p:cNvPr id="52" name="footer"/>
          <p:cNvSpPr/>
          <p:nvPr/>
        </p:nvSpPr>
        <p:spPr>
          <a:xfrm>
            <a:off x="502920" y="6400800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air-quality-project | 2026-05-07</a:t>
            </a:r>
          </a:p>
        </p:txBody>
      </p:sp>
      <p:sp>
        <p:nvSpPr>
          <p:cNvPr id="53" name="page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5</a:t>
            </a:r>
          </a:p>
        </p:txBody>
      </p:sp>
      <p:sp>
        <p:nvSpPr>
          <p:cNvPr id="10" name="Python 로그 생성기"/>
          <p:cNvSpPr/>
          <p:nvPr/>
        </p:nvSpPr>
        <p:spPr>
          <a:xfrm>
            <a:off x="502920" y="1874519"/>
            <a:ext cx="1417320" cy="91440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60A5FA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Python</a:t>
            </a:r>
          </a:p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로그 생성기</a:t>
            </a:r>
          </a:p>
        </p:txBody>
      </p:sp>
      <p:sp>
        <p:nvSpPr>
          <p:cNvPr id="30" name="arrow-30"/>
          <p:cNvSpPr/>
          <p:nvPr/>
        </p:nvSpPr>
        <p:spPr>
          <a:xfrm>
            <a:off x="1965960" y="2157984"/>
            <a:ext cx="320040" cy="256032"/>
          </a:xfrm>
          <a:prstGeom prst="rightArrow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11" name="sensor_logs/*.log 파일 기록"/>
          <p:cNvSpPr/>
          <p:nvPr/>
        </p:nvSpPr>
        <p:spPr>
          <a:xfrm>
            <a:off x="2331720" y="1874519"/>
            <a:ext cx="1417320" cy="91440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1F2937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sensor_logs/*.log</a:t>
            </a:r>
          </a:p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파일 기록</a:t>
            </a:r>
          </a:p>
        </p:txBody>
      </p:sp>
      <p:sp>
        <p:nvSpPr>
          <p:cNvPr id="31" name="arrow-31"/>
          <p:cNvSpPr/>
          <p:nvPr/>
        </p:nvSpPr>
        <p:spPr>
          <a:xfrm>
            <a:off x="3794760" y="2157984"/>
            <a:ext cx="320040" cy="256032"/>
          </a:xfrm>
          <a:prstGeom prst="rightArrow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12" name="Fluent Bit 파일 tail"/>
          <p:cNvSpPr/>
          <p:nvPr/>
        </p:nvSpPr>
        <p:spPr>
          <a:xfrm>
            <a:off x="4160520" y="1874519"/>
            <a:ext cx="1417320" cy="91440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2DD4BF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Fluent Bit</a:t>
            </a:r>
          </a:p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파일 tail</a:t>
            </a:r>
          </a:p>
        </p:txBody>
      </p:sp>
      <p:sp>
        <p:nvSpPr>
          <p:cNvPr id="32" name="arrow-32"/>
          <p:cNvSpPr/>
          <p:nvPr/>
        </p:nvSpPr>
        <p:spPr>
          <a:xfrm>
            <a:off x="5623560" y="2157984"/>
            <a:ext cx="320040" cy="256032"/>
          </a:xfrm>
          <a:prstGeom prst="rightArrow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13" name="JSON 로그 Kafka 직행"/>
          <p:cNvSpPr/>
          <p:nvPr/>
        </p:nvSpPr>
        <p:spPr>
          <a:xfrm>
            <a:off x="5989320" y="1874519"/>
            <a:ext cx="1417320" cy="91440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34D399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JSON 로그</a:t>
            </a:r>
          </a:p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Kafka 직행</a:t>
            </a:r>
          </a:p>
        </p:txBody>
      </p:sp>
      <p:sp>
        <p:nvSpPr>
          <p:cNvPr id="33" name="arrow-33"/>
          <p:cNvSpPr/>
          <p:nvPr/>
        </p:nvSpPr>
        <p:spPr>
          <a:xfrm>
            <a:off x="7452360" y="2157984"/>
            <a:ext cx="320040" cy="256032"/>
          </a:xfrm>
          <a:prstGeom prst="rightArrow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14" name="Text 로그 Logstash grok"/>
          <p:cNvSpPr/>
          <p:nvPr/>
        </p:nvSpPr>
        <p:spPr>
          <a:xfrm>
            <a:off x="7818120" y="1874519"/>
            <a:ext cx="1417320" cy="91440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FBBF24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Text 로그</a:t>
            </a:r>
          </a:p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Logstash grok</a:t>
            </a:r>
          </a:p>
        </p:txBody>
      </p:sp>
      <p:sp>
        <p:nvSpPr>
          <p:cNvPr id="34" name="arrow-34"/>
          <p:cNvSpPr/>
          <p:nvPr/>
        </p:nvSpPr>
        <p:spPr>
          <a:xfrm>
            <a:off x="9281160" y="2157984"/>
            <a:ext cx="320040" cy="256032"/>
          </a:xfrm>
          <a:prstGeom prst="rightArrow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15" name="Kafka UI 토픽 확인"/>
          <p:cNvSpPr/>
          <p:nvPr/>
        </p:nvSpPr>
        <p:spPr>
          <a:xfrm>
            <a:off x="9646920" y="1874519"/>
            <a:ext cx="1417320" cy="91440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A78BFA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Kafka UI</a:t>
            </a:r>
          </a:p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토픽 확인</a:t>
            </a:r>
          </a:p>
        </p:txBody>
      </p:sp>
      <p:sp>
        <p:nvSpPr>
          <p:cNvPr id="55" name="topic1"/>
          <p:cNvSpPr/>
          <p:nvPr/>
        </p:nvSpPr>
        <p:spPr>
          <a:xfrm>
            <a:off x="5806440" y="3246120"/>
            <a:ext cx="1874519" cy="475488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34D399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sensor-json-logs</a:t>
            </a:r>
          </a:p>
        </p:txBody>
      </p:sp>
      <p:sp>
        <p:nvSpPr>
          <p:cNvPr id="56" name="topic2"/>
          <p:cNvSpPr/>
          <p:nvPr/>
        </p:nvSpPr>
        <p:spPr>
          <a:xfrm>
            <a:off x="7662672" y="3246120"/>
            <a:ext cx="1874519" cy="475488"/>
          </a:xfrm>
          <a:prstGeom prst="roundRect">
            <a:avLst/>
          </a:prstGeom>
          <a:solidFill>
            <a:srgbClr val="713F12"/>
          </a:solidFill>
          <a:ln w="12700">
            <a:solidFill>
              <a:srgbClr val="FBBF24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sensor-text-logs</a:t>
            </a:r>
          </a:p>
        </p:txBody>
      </p:sp>
      <p:sp>
        <p:nvSpPr>
          <p:cNvPr id="70" name="proof"/>
          <p:cNvSpPr/>
          <p:nvPr/>
        </p:nvSpPr>
        <p:spPr>
          <a:xfrm>
            <a:off x="731520" y="470916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700" b="1">
                <a:solidFill>
                  <a:srgbClr val="F8FAFC"/>
                </a:solidFill>
                <a:latin typeface="Apple SD Gothic Neo"/>
                <a:ea typeface="Apple SD Gothic Neo"/>
              </a:rPr>
              <a:t>검증 결과: Kafka 토픽 생성 확인, JSON/Text 메시지 consume 확인, Logstash 필드 중복 문제를 replace 방식으로 수정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txBody>
          <a:bodyPr/>
          <a:lstStyle/>
          <a:p/>
        </p:txBody>
      </p:sp>
      <p:sp>
        <p:nvSpPr>
          <p:cNvPr id="50" name="kicker"/>
          <p:cNvSpPr/>
          <p:nvPr/>
        </p:nvSpPr>
        <p:spPr>
          <a:xfrm>
            <a:off x="502920" y="25603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 b="1">
                <a:solidFill>
                  <a:srgbClr val="2DD4BF"/>
                </a:solidFill>
                <a:latin typeface="Apple SD Gothic Neo"/>
                <a:ea typeface="Apple SD Gothic Neo"/>
              </a:rPr>
              <a:t>AWS INGESTION</a:t>
            </a:r>
          </a:p>
        </p:txBody>
      </p:sp>
      <p:sp>
        <p:nvSpPr>
          <p:cNvPr id="51" name="title"/>
          <p:cNvSpPr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2500" b="1">
                <a:solidFill>
                  <a:srgbClr val="F8FAFC"/>
                </a:solidFill>
                <a:latin typeface="Apple SD Gothic Neo"/>
                <a:ea typeface="Apple SD Gothic Neo"/>
              </a:rPr>
              <a:t>AWS Bronze 적재: Vector에서 Firehose, S3까지</a:t>
            </a:r>
          </a:p>
        </p:txBody>
      </p:sp>
      <p:sp>
        <p:nvSpPr>
          <p:cNvPr id="52" name="footer"/>
          <p:cNvSpPr/>
          <p:nvPr/>
        </p:nvSpPr>
        <p:spPr>
          <a:xfrm>
            <a:off x="502920" y="6400800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air-quality-project | 2026-05-07</a:t>
            </a:r>
          </a:p>
        </p:txBody>
      </p:sp>
      <p:sp>
        <p:nvSpPr>
          <p:cNvPr id="53" name="page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6</a:t>
            </a:r>
          </a:p>
        </p:txBody>
      </p:sp>
      <p:sp>
        <p:nvSpPr>
          <p:cNvPr id="10" name="Kafka sensor-* topics"/>
          <p:cNvSpPr/>
          <p:nvPr/>
        </p:nvSpPr>
        <p:spPr>
          <a:xfrm>
            <a:off x="731520" y="1920240"/>
            <a:ext cx="2057400" cy="91440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2DD4BF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Kafka</a:t>
            </a:r>
          </a:p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sensor-* topics</a:t>
            </a:r>
          </a:p>
        </p:txBody>
      </p:sp>
      <p:sp>
        <p:nvSpPr>
          <p:cNvPr id="30" name="arrow-30"/>
          <p:cNvSpPr/>
          <p:nvPr/>
        </p:nvSpPr>
        <p:spPr>
          <a:xfrm>
            <a:off x="2880360" y="2240280"/>
            <a:ext cx="411480" cy="256032"/>
          </a:xfrm>
          <a:prstGeom prst="rightArrow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11" name="Vector Kafka source"/>
          <p:cNvSpPr/>
          <p:nvPr/>
        </p:nvSpPr>
        <p:spPr>
          <a:xfrm>
            <a:off x="3474720" y="1920240"/>
            <a:ext cx="2057400" cy="91440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60A5FA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Vector</a:t>
            </a:r>
          </a:p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Kafka source</a:t>
            </a:r>
          </a:p>
        </p:txBody>
      </p:sp>
      <p:sp>
        <p:nvSpPr>
          <p:cNvPr id="31" name="arrow-31"/>
          <p:cNvSpPr/>
          <p:nvPr/>
        </p:nvSpPr>
        <p:spPr>
          <a:xfrm>
            <a:off x="5623560" y="2240280"/>
            <a:ext cx="411480" cy="256032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/>
          <a:lstStyle/>
          <a:p/>
        </p:txBody>
      </p:sp>
      <p:sp>
        <p:nvSpPr>
          <p:cNvPr id="12" name="Kinesis Firehose sensor-log-bronze-firehose"/>
          <p:cNvSpPr/>
          <p:nvPr/>
        </p:nvSpPr>
        <p:spPr>
          <a:xfrm>
            <a:off x="6217920" y="1920240"/>
            <a:ext cx="2057400" cy="91440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FBBF24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Kinesis Firehose</a:t>
            </a:r>
          </a:p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sensor-log-bronze-firehose</a:t>
            </a:r>
          </a:p>
        </p:txBody>
      </p:sp>
      <p:sp>
        <p:nvSpPr>
          <p:cNvPr id="32" name="arrow-32"/>
          <p:cNvSpPr/>
          <p:nvPr/>
        </p:nvSpPr>
        <p:spPr>
          <a:xfrm>
            <a:off x="8366760" y="2240280"/>
            <a:ext cx="411480" cy="256032"/>
          </a:xfrm>
          <a:prstGeom prst="rightArrow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13" name="S3 Bronze raw JSON objects"/>
          <p:cNvSpPr/>
          <p:nvPr/>
        </p:nvSpPr>
        <p:spPr>
          <a:xfrm>
            <a:off x="8961120" y="1920240"/>
            <a:ext cx="2057400" cy="91440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34D399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S3 Bronze</a:t>
            </a:r>
          </a:p>
          <a:p>
            <a:pPr algn="ctr"/>
            <a:r>
              <a:rPr lang="ko-KR" sz="1300" b="1">
                <a:solidFill>
                  <a:srgbClr val="F8FAFC"/>
                </a:solidFill>
                <a:latin typeface="Apple SD Gothic Neo"/>
                <a:ea typeface="Apple SD Gothic Neo"/>
              </a:rPr>
              <a:t>raw JSON objects</a:t>
            </a:r>
          </a:p>
        </p:txBody>
      </p:sp>
      <p:sp>
        <p:nvSpPr>
          <p:cNvPr id="60" name="bucket"/>
          <p:cNvSpPr/>
          <p:nvPr/>
        </p:nvSpPr>
        <p:spPr>
          <a:xfrm>
            <a:off x="777240" y="3977639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600" b="1">
                <a:solidFill>
                  <a:srgbClr val="F8FAFC"/>
                </a:solidFill>
                <a:latin typeface="Apple SD Gothic Neo"/>
                <a:ea typeface="Apple SD Gothic Neo"/>
              </a:rPr>
              <a:t>S3 경로</a:t>
            </a:r>
          </a:p>
          <a:p>
            <a:pPr/>
            <a:r>
              <a:rPr lang="ko-KR" sz="1600" b="1">
                <a:solidFill>
                  <a:srgbClr val="F8FAFC"/>
                </a:solidFill>
                <a:latin typeface="Apple SD Gothic Neo"/>
                <a:ea typeface="Apple SD Gothic Neo"/>
              </a:rPr>
              <a:t>s3://air-quality-medallion-bucket-827913617635-ap-northeast-2-an/sensor-logs/bronze/</a:t>
            </a:r>
          </a:p>
        </p:txBody>
      </p:sp>
      <p:sp>
        <p:nvSpPr>
          <p:cNvPr id="61" name="evidence"/>
          <p:cNvSpPr/>
          <p:nvPr/>
        </p:nvSpPr>
        <p:spPr>
          <a:xfrm>
            <a:off x="777240" y="52120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600" b="1">
                <a:solidFill>
                  <a:srgbClr val="34D399"/>
                </a:solidFill>
                <a:latin typeface="Apple SD Gothic Neo"/>
                <a:ea typeface="Apple SD Gothic Neo"/>
              </a:rPr>
              <a:t>운영 증거: Vector healthcheck passed, Firehose 전송 성공, S3 Bronze 객체 생성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txBody>
          <a:bodyPr/>
          <a:lstStyle/>
          <a:p/>
        </p:txBody>
      </p:sp>
      <p:sp>
        <p:nvSpPr>
          <p:cNvPr id="50" name="kicker"/>
          <p:cNvSpPr/>
          <p:nvPr/>
        </p:nvSpPr>
        <p:spPr>
          <a:xfrm>
            <a:off x="502920" y="25603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 b="1">
                <a:solidFill>
                  <a:srgbClr val="2DD4BF"/>
                </a:solidFill>
                <a:latin typeface="Apple SD Gothic Neo"/>
                <a:ea typeface="Apple SD Gothic Neo"/>
              </a:rPr>
              <a:t>MEDALLION DESIGN</a:t>
            </a:r>
          </a:p>
        </p:txBody>
      </p:sp>
      <p:sp>
        <p:nvSpPr>
          <p:cNvPr id="51" name="title"/>
          <p:cNvSpPr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2500" b="1">
                <a:solidFill>
                  <a:srgbClr val="F8FAFC"/>
                </a:solidFill>
                <a:latin typeface="Apple SD Gothic Neo"/>
                <a:ea typeface="Apple SD Gothic Neo"/>
              </a:rPr>
              <a:t>메달리언 레이어: Raw → Clean → Aggregated</a:t>
            </a:r>
          </a:p>
        </p:txBody>
      </p:sp>
      <p:sp>
        <p:nvSpPr>
          <p:cNvPr id="52" name="footer"/>
          <p:cNvSpPr/>
          <p:nvPr/>
        </p:nvSpPr>
        <p:spPr>
          <a:xfrm>
            <a:off x="502920" y="6400800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air-quality-project | 2026-05-07</a:t>
            </a:r>
          </a:p>
        </p:txBody>
      </p:sp>
      <p:sp>
        <p:nvSpPr>
          <p:cNvPr id="53" name="page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7</a:t>
            </a:r>
          </a:p>
        </p:txBody>
      </p:sp>
      <p:sp>
        <p:nvSpPr>
          <p:cNvPr id="10" name="Bronze"/>
          <p:cNvSpPr/>
          <p:nvPr/>
        </p:nvSpPr>
        <p:spPr>
          <a:xfrm>
            <a:off x="713232" y="1600200"/>
            <a:ext cx="3063240" cy="333756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60A5FA"/>
            </a:solidFill>
          </a:ln>
        </p:spPr>
        <p:txBody>
          <a:bodyPr/>
          <a:lstStyle/>
          <a:p/>
        </p:txBody>
      </p:sp>
      <p:sp>
        <p:nvSpPr>
          <p:cNvPr id="20" name="Bronze-title"/>
          <p:cNvSpPr/>
          <p:nvPr/>
        </p:nvSpPr>
        <p:spPr>
          <a:xfrm>
            <a:off x="914400" y="18288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2700" b="1">
                <a:solidFill>
                  <a:srgbClr val="60A5FA"/>
                </a:solidFill>
                <a:latin typeface="Apple SD Gothic Neo"/>
                <a:ea typeface="Apple SD Gothic Neo"/>
              </a:rPr>
              <a:t>Bronze</a:t>
            </a:r>
          </a:p>
        </p:txBody>
      </p:sp>
      <p:sp>
        <p:nvSpPr>
          <p:cNvPr id="30" name="Bronze-purpose"/>
          <p:cNvSpPr/>
          <p:nvPr/>
        </p:nvSpPr>
        <p:spPr>
          <a:xfrm>
            <a:off x="914400" y="25146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700" b="1">
                <a:solidFill>
                  <a:srgbClr val="F8FAFC"/>
                </a:solidFill>
                <a:latin typeface="Apple SD Gothic Neo"/>
                <a:ea typeface="Apple SD Gothic Neo"/>
              </a:rPr>
              <a:t>원본 JSON 보존</a:t>
            </a:r>
          </a:p>
        </p:txBody>
      </p:sp>
      <p:sp>
        <p:nvSpPr>
          <p:cNvPr id="40" name="Bronze-fields"/>
          <p:cNvSpPr/>
          <p:nvPr/>
        </p:nvSpPr>
        <p:spPr>
          <a:xfrm>
            <a:off x="914400" y="3127248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>
                <a:solidFill>
                  <a:srgbClr val="AAB3C5"/>
                </a:solidFill>
                <a:latin typeface="Apple SD Gothic Neo"/>
                <a:ea typeface="Apple SD Gothic Neo"/>
              </a:rPr>
              <a:t>event_time, sensor_id, metric_name, metric_value, message</a:t>
            </a:r>
          </a:p>
        </p:txBody>
      </p:sp>
      <p:sp>
        <p:nvSpPr>
          <p:cNvPr id="50" name="Bronze-part"/>
          <p:cNvSpPr/>
          <p:nvPr/>
        </p:nvSpPr>
        <p:spPr>
          <a:xfrm>
            <a:off x="914400" y="4343400"/>
            <a:ext cx="265176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0A5FA"/>
            </a:solidFill>
          </a:ln>
        </p:spPr>
        <p:txBody>
          <a:bodyPr wrap="square" anchor="mid"/>
          <a:lstStyle/>
          <a:p>
            <a:pPr algn="ctr"/>
            <a:r>
              <a:rPr lang="ko-KR" sz="1000">
                <a:solidFill>
                  <a:srgbClr val="F8FAFC"/>
                </a:solidFill>
                <a:latin typeface="Apple SD Gothic Neo"/>
                <a:ea typeface="Apple SD Gothic Neo"/>
              </a:rPr>
              <a:t>partition: year/month/day/hour</a:t>
            </a:r>
          </a:p>
        </p:txBody>
      </p:sp>
      <p:sp>
        <p:nvSpPr>
          <p:cNvPr id="70" name="arrow-70"/>
          <p:cNvSpPr/>
          <p:nvPr/>
        </p:nvSpPr>
        <p:spPr>
          <a:xfrm>
            <a:off x="3913632" y="3063240"/>
            <a:ext cx="365760" cy="274320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/>
          <a:lstStyle/>
          <a:p/>
        </p:txBody>
      </p:sp>
      <p:sp>
        <p:nvSpPr>
          <p:cNvPr id="11" name="Silver"/>
          <p:cNvSpPr/>
          <p:nvPr/>
        </p:nvSpPr>
        <p:spPr>
          <a:xfrm>
            <a:off x="4443984" y="1600200"/>
            <a:ext cx="3063240" cy="333756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21" name="Silver-title"/>
          <p:cNvSpPr/>
          <p:nvPr/>
        </p:nvSpPr>
        <p:spPr>
          <a:xfrm>
            <a:off x="4645152" y="18288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2700" b="1">
                <a:solidFill>
                  <a:srgbClr val="2DD4BF"/>
                </a:solidFill>
                <a:latin typeface="Apple SD Gothic Neo"/>
                <a:ea typeface="Apple SD Gothic Neo"/>
              </a:rPr>
              <a:t>Silver</a:t>
            </a:r>
          </a:p>
        </p:txBody>
      </p:sp>
      <p:sp>
        <p:nvSpPr>
          <p:cNvPr id="31" name="Silver-purpose"/>
          <p:cNvSpPr/>
          <p:nvPr/>
        </p:nvSpPr>
        <p:spPr>
          <a:xfrm>
            <a:off x="4645152" y="25146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700" b="1">
                <a:solidFill>
                  <a:srgbClr val="F8FAFC"/>
                </a:solidFill>
                <a:latin typeface="Apple SD Gothic Neo"/>
                <a:ea typeface="Apple SD Gothic Neo"/>
              </a:rPr>
              <a:t>스키마 정제·타입 캐스팅</a:t>
            </a:r>
          </a:p>
        </p:txBody>
      </p:sp>
      <p:sp>
        <p:nvSpPr>
          <p:cNvPr id="41" name="Silver-fields"/>
          <p:cNvSpPr/>
          <p:nvPr/>
        </p:nvSpPr>
        <p:spPr>
          <a:xfrm>
            <a:off x="4645152" y="3127248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>
                <a:solidFill>
                  <a:srgbClr val="AAB3C5"/>
                </a:solidFill>
                <a:latin typeface="Apple SD Gothic Neo"/>
                <a:ea typeface="Apple SD Gothic Neo"/>
              </a:rPr>
              <a:t>event_time timestamp, metric_value double, 중복 제거, partition</a:t>
            </a:r>
          </a:p>
        </p:txBody>
      </p:sp>
      <p:sp>
        <p:nvSpPr>
          <p:cNvPr id="51" name="Silver-part"/>
          <p:cNvSpPr/>
          <p:nvPr/>
        </p:nvSpPr>
        <p:spPr>
          <a:xfrm>
            <a:off x="4645152" y="4343400"/>
            <a:ext cx="265176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D4BF"/>
            </a:solidFill>
          </a:ln>
        </p:spPr>
        <p:txBody>
          <a:bodyPr wrap="square" anchor="mid"/>
          <a:lstStyle/>
          <a:p>
            <a:pPr algn="ctr"/>
            <a:r>
              <a:rPr lang="ko-KR" sz="1000">
                <a:solidFill>
                  <a:srgbClr val="F8FAFC"/>
                </a:solidFill>
                <a:latin typeface="Apple SD Gothic Neo"/>
                <a:ea typeface="Apple SD Gothic Neo"/>
              </a:rPr>
              <a:t>partition: year/month/day/hour</a:t>
            </a:r>
          </a:p>
        </p:txBody>
      </p:sp>
      <p:sp>
        <p:nvSpPr>
          <p:cNvPr id="71" name="arrow-71"/>
          <p:cNvSpPr/>
          <p:nvPr/>
        </p:nvSpPr>
        <p:spPr>
          <a:xfrm>
            <a:off x="7644383" y="3063240"/>
            <a:ext cx="365760" cy="274320"/>
          </a:xfrm>
          <a:prstGeom prst="rightArrow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12" name="Gold"/>
          <p:cNvSpPr/>
          <p:nvPr/>
        </p:nvSpPr>
        <p:spPr>
          <a:xfrm>
            <a:off x="8174736" y="1600200"/>
            <a:ext cx="3063240" cy="333756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22" name="Gold-title"/>
          <p:cNvSpPr/>
          <p:nvPr/>
        </p:nvSpPr>
        <p:spPr>
          <a:xfrm>
            <a:off x="8375904" y="18288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2700" b="1">
                <a:solidFill>
                  <a:srgbClr val="FBBF24"/>
                </a:solidFill>
                <a:latin typeface="Apple SD Gothic Neo"/>
                <a:ea typeface="Apple SD Gothic Neo"/>
              </a:rPr>
              <a:t>Gold</a:t>
            </a:r>
          </a:p>
        </p:txBody>
      </p:sp>
      <p:sp>
        <p:nvSpPr>
          <p:cNvPr id="32" name="Gold-purpose"/>
          <p:cNvSpPr/>
          <p:nvPr/>
        </p:nvSpPr>
        <p:spPr>
          <a:xfrm>
            <a:off x="8375904" y="25146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700" b="1">
                <a:solidFill>
                  <a:srgbClr val="F8FAFC"/>
                </a:solidFill>
                <a:latin typeface="Apple SD Gothic Neo"/>
                <a:ea typeface="Apple SD Gothic Neo"/>
              </a:rPr>
              <a:t>시간별 분석 집계</a:t>
            </a:r>
          </a:p>
        </p:txBody>
      </p:sp>
      <p:sp>
        <p:nvSpPr>
          <p:cNvPr id="42" name="Gold-fields"/>
          <p:cNvSpPr/>
          <p:nvPr/>
        </p:nvSpPr>
        <p:spPr>
          <a:xfrm>
            <a:off x="8375904" y="3127248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>
                <a:solidFill>
                  <a:srgbClr val="AAB3C5"/>
                </a:solidFill>
                <a:latin typeface="Apple SD Gothic Neo"/>
                <a:ea typeface="Apple SD Gothic Neo"/>
              </a:rPr>
              <a:t>avg/max/min, event_count, error_count, warning_count</a:t>
            </a:r>
          </a:p>
        </p:txBody>
      </p:sp>
      <p:sp>
        <p:nvSpPr>
          <p:cNvPr id="52" name="Gold-part"/>
          <p:cNvSpPr/>
          <p:nvPr/>
        </p:nvSpPr>
        <p:spPr>
          <a:xfrm>
            <a:off x="8375904" y="4343400"/>
            <a:ext cx="265176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txBody>
          <a:bodyPr wrap="square" anchor="mid"/>
          <a:lstStyle/>
          <a:p>
            <a:pPr algn="ctr"/>
            <a:r>
              <a:rPr lang="ko-KR" sz="1000">
                <a:solidFill>
                  <a:srgbClr val="F8FAFC"/>
                </a:solidFill>
                <a:latin typeface="Apple SD Gothic Neo"/>
                <a:ea typeface="Apple SD Gothic Neo"/>
              </a:rPr>
              <a:t>partition: year/month/day/hour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txBody>
          <a:bodyPr/>
          <a:lstStyle/>
          <a:p/>
        </p:txBody>
      </p:sp>
      <p:sp>
        <p:nvSpPr>
          <p:cNvPr id="50" name="kicker"/>
          <p:cNvSpPr/>
          <p:nvPr/>
        </p:nvSpPr>
        <p:spPr>
          <a:xfrm>
            <a:off x="502920" y="25603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 b="1">
                <a:solidFill>
                  <a:srgbClr val="2DD4BF"/>
                </a:solidFill>
                <a:latin typeface="Apple SD Gothic Neo"/>
                <a:ea typeface="Apple SD Gothic Neo"/>
              </a:rPr>
              <a:t>GLUE ETL</a:t>
            </a:r>
          </a:p>
        </p:txBody>
      </p:sp>
      <p:sp>
        <p:nvSpPr>
          <p:cNvPr id="51" name="title"/>
          <p:cNvSpPr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2500" b="1">
                <a:solidFill>
                  <a:srgbClr val="F8FAFC"/>
                </a:solidFill>
                <a:latin typeface="Apple SD Gothic Neo"/>
                <a:ea typeface="Apple SD Gothic Neo"/>
              </a:rPr>
              <a:t>Glue 작업: 정제와 집계의 실행 단위</a:t>
            </a:r>
          </a:p>
        </p:txBody>
      </p:sp>
      <p:sp>
        <p:nvSpPr>
          <p:cNvPr id="52" name="footer"/>
          <p:cNvSpPr/>
          <p:nvPr/>
        </p:nvSpPr>
        <p:spPr>
          <a:xfrm>
            <a:off x="502920" y="6400800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air-quality-project | 2026-05-07</a:t>
            </a:r>
          </a:p>
        </p:txBody>
      </p:sp>
      <p:sp>
        <p:nvSpPr>
          <p:cNvPr id="53" name="page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8</a:t>
            </a:r>
          </a:p>
        </p:txBody>
      </p:sp>
      <p:sp>
        <p:nvSpPr>
          <p:cNvPr id="3" name="panel-3"/>
          <p:cNvSpPr/>
          <p:nvPr/>
        </p:nvSpPr>
        <p:spPr>
          <a:xfrm>
            <a:off x="685800" y="1417320"/>
            <a:ext cx="5074920" cy="214884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103" name="panel-text-3"/>
          <p:cNvSpPr/>
          <p:nvPr/>
        </p:nvSpPr>
        <p:spPr>
          <a:xfrm>
            <a:off x="886968" y="1563624"/>
            <a:ext cx="4672583" cy="18928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Bronze → Silver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recursiveFileLookup으로 Firehose 하위 경로 전체 읽기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timestamp/double/string 타입 정규화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필수 필드 필터링과 중복 제거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Parquet + year/month/day/hour 파티션 저장</a:t>
            </a:r>
          </a:p>
        </p:txBody>
      </p:sp>
      <p:sp>
        <p:nvSpPr>
          <p:cNvPr id="4" name="panel-4"/>
          <p:cNvSpPr/>
          <p:nvPr/>
        </p:nvSpPr>
        <p:spPr>
          <a:xfrm>
            <a:off x="6400800" y="1417320"/>
            <a:ext cx="5074920" cy="214884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104" name="panel-text-4"/>
          <p:cNvSpPr/>
          <p:nvPr/>
        </p:nvSpPr>
        <p:spPr>
          <a:xfrm>
            <a:off x="6601968" y="1563624"/>
            <a:ext cx="4672583" cy="18928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Silver → Gold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event_time을 시간 단위로 date_trunc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sensor_id + metric_name + unit 단위 그룹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avg/max/min, count, error/warn count 집계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Athena 조회용 시간별 요약 테이블 생성</a:t>
            </a:r>
          </a:p>
        </p:txBody>
      </p:sp>
      <p:sp>
        <p:nvSpPr>
          <p:cNvPr id="60" name="job1"/>
          <p:cNvSpPr/>
          <p:nvPr/>
        </p:nvSpPr>
        <p:spPr>
          <a:xfrm>
            <a:off x="914400" y="4343400"/>
            <a:ext cx="4572000" cy="47548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2DD4BF"/>
            </a:solidFill>
          </a:ln>
        </p:spPr>
        <p:txBody>
          <a:bodyPr wrap="square" anchor="mid"/>
          <a:lstStyle/>
          <a:p>
            <a:pPr algn="ctr"/>
            <a:r>
              <a:rPr lang="ko-KR" sz="1400" b="1">
                <a:solidFill>
                  <a:srgbClr val="F8FAFC"/>
                </a:solidFill>
                <a:latin typeface="Apple SD Gothic Neo"/>
                <a:ea typeface="Apple SD Gothic Neo"/>
              </a:rPr>
              <a:t>job_bronze_to_silver_sensor_logs</a:t>
            </a:r>
          </a:p>
        </p:txBody>
      </p:sp>
      <p:sp>
        <p:nvSpPr>
          <p:cNvPr id="61" name="job2"/>
          <p:cNvSpPr/>
          <p:nvPr/>
        </p:nvSpPr>
        <p:spPr>
          <a:xfrm>
            <a:off x="6629400" y="4343400"/>
            <a:ext cx="4572000" cy="475488"/>
          </a:xfrm>
          <a:prstGeom prst="roundRect">
            <a:avLst/>
          </a:prstGeom>
          <a:solidFill>
            <a:srgbClr val="713F12"/>
          </a:solidFill>
          <a:ln w="12700">
            <a:solidFill>
              <a:srgbClr val="FBBF24"/>
            </a:solidFill>
          </a:ln>
        </p:spPr>
        <p:txBody>
          <a:bodyPr wrap="square" anchor="mid"/>
          <a:lstStyle/>
          <a:p>
            <a:pPr algn="ctr"/>
            <a:r>
              <a:rPr lang="ko-KR" sz="1400" b="1">
                <a:solidFill>
                  <a:srgbClr val="F8FAFC"/>
                </a:solidFill>
                <a:latin typeface="Apple SD Gothic Neo"/>
                <a:ea typeface="Apple SD Gothic Neo"/>
              </a:rPr>
              <a:t>job_silver_to_gold_hourly_sensor_logs</a:t>
            </a:r>
          </a:p>
        </p:txBody>
      </p:sp>
      <p:sp>
        <p:nvSpPr>
          <p:cNvPr id="80" name="catalog"/>
          <p:cNvSpPr/>
          <p:nvPr/>
        </p:nvSpPr>
        <p:spPr>
          <a:xfrm>
            <a:off x="822960" y="559612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ko-KR" sz="1500" b="1">
                <a:solidFill>
                  <a:srgbClr val="A78BFA"/>
                </a:solidFill>
                <a:latin typeface="Apple SD Gothic Neo"/>
                <a:ea typeface="Apple SD Gothic Neo"/>
              </a:rPr>
              <a:t>Glue Catalog DB: air_quality_medallion | Region: ap-northeast-2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txBody>
          <a:bodyPr/>
          <a:lstStyle/>
          <a:p/>
        </p:txBody>
      </p:sp>
      <p:sp>
        <p:nvSpPr>
          <p:cNvPr id="50" name="kicker"/>
          <p:cNvSpPr/>
          <p:nvPr/>
        </p:nvSpPr>
        <p:spPr>
          <a:xfrm>
            <a:off x="502920" y="25603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 b="1">
                <a:solidFill>
                  <a:srgbClr val="2DD4BF"/>
                </a:solidFill>
                <a:latin typeface="Apple SD Gothic Neo"/>
                <a:ea typeface="Apple SD Gothic Neo"/>
              </a:rPr>
              <a:t>VALIDATION</a:t>
            </a:r>
          </a:p>
        </p:txBody>
      </p:sp>
      <p:sp>
        <p:nvSpPr>
          <p:cNvPr id="51" name="title"/>
          <p:cNvSpPr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2500" b="1">
                <a:solidFill>
                  <a:srgbClr val="F8FAFC"/>
                </a:solidFill>
                <a:latin typeface="Apple SD Gothic Neo"/>
                <a:ea typeface="Apple SD Gothic Neo"/>
              </a:rPr>
              <a:t>검증 타임라인: 막힌 지점과 해결 결과</a:t>
            </a:r>
          </a:p>
        </p:txBody>
      </p:sp>
      <p:sp>
        <p:nvSpPr>
          <p:cNvPr id="52" name="footer"/>
          <p:cNvSpPr/>
          <p:nvPr/>
        </p:nvSpPr>
        <p:spPr>
          <a:xfrm>
            <a:off x="502920" y="6400800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air-quality-project | 2026-05-07</a:t>
            </a:r>
          </a:p>
        </p:txBody>
      </p:sp>
      <p:sp>
        <p:nvSpPr>
          <p:cNvPr id="53" name="page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9</a:t>
            </a:r>
          </a:p>
        </p:txBody>
      </p:sp>
      <p:sp>
        <p:nvSpPr>
          <p:cNvPr id="10" name="Vector"/>
          <p:cNvSpPr/>
          <p:nvPr/>
        </p:nvSpPr>
        <p:spPr>
          <a:xfrm>
            <a:off x="777240" y="1417320"/>
            <a:ext cx="1234440" cy="475488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0B1020"/>
                </a:solidFill>
                <a:latin typeface="Apple SD Gothic Neo"/>
                <a:ea typeface="Apple SD Gothic Neo"/>
              </a:rPr>
              <a:t>Vector</a:t>
            </a:r>
          </a:p>
        </p:txBody>
      </p:sp>
      <p:sp>
        <p:nvSpPr>
          <p:cNvPr id="30" name="desc-0"/>
          <p:cNvSpPr/>
          <p:nvPr/>
        </p:nvSpPr>
        <p:spPr>
          <a:xfrm>
            <a:off x="2240280" y="1444752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DescribeDeliveryStream 실패 → AWS 키/리전/env 수정 → Healthcheck passed</a:t>
            </a:r>
          </a:p>
        </p:txBody>
      </p:sp>
      <p:sp>
        <p:nvSpPr>
          <p:cNvPr id="11" name="S3 Bronze"/>
          <p:cNvSpPr/>
          <p:nvPr/>
        </p:nvSpPr>
        <p:spPr>
          <a:xfrm>
            <a:off x="777240" y="2286000"/>
            <a:ext cx="1234440" cy="475488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0B1020"/>
                </a:solidFill>
                <a:latin typeface="Apple SD Gothic Neo"/>
                <a:ea typeface="Apple SD Gothic Neo"/>
              </a:rPr>
              <a:t>S3 Bronze</a:t>
            </a:r>
          </a:p>
        </p:txBody>
      </p:sp>
      <p:sp>
        <p:nvSpPr>
          <p:cNvPr id="31" name="desc-1"/>
          <p:cNvSpPr/>
          <p:nvPr/>
        </p:nvSpPr>
        <p:spPr>
          <a:xfrm>
            <a:off x="2240280" y="2313432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Firehose 객체 생성 확인</a:t>
            </a:r>
          </a:p>
        </p:txBody>
      </p:sp>
      <p:sp>
        <p:nvSpPr>
          <p:cNvPr id="12" name="Glue 권한"/>
          <p:cNvSpPr/>
          <p:nvPr/>
        </p:nvSpPr>
        <p:spPr>
          <a:xfrm>
            <a:off x="777240" y="3154680"/>
            <a:ext cx="1234440" cy="475488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0B1020"/>
                </a:solidFill>
                <a:latin typeface="Apple SD Gothic Neo"/>
                <a:ea typeface="Apple SD Gothic Neo"/>
              </a:rPr>
              <a:t>Glue 권한</a:t>
            </a:r>
          </a:p>
        </p:txBody>
      </p:sp>
      <p:sp>
        <p:nvSpPr>
          <p:cNvPr id="32" name="desc-2"/>
          <p:cNvSpPr/>
          <p:nvPr/>
        </p:nvSpPr>
        <p:spPr>
          <a:xfrm>
            <a:off x="2240280" y="3182112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Crawler s3:GetObject AccessDenied → Glue Role S3 권한 보강</a:t>
            </a:r>
          </a:p>
        </p:txBody>
      </p:sp>
      <p:sp>
        <p:nvSpPr>
          <p:cNvPr id="13" name="Silver"/>
          <p:cNvSpPr/>
          <p:nvPr/>
        </p:nvSpPr>
        <p:spPr>
          <a:xfrm>
            <a:off x="777240" y="4023359"/>
            <a:ext cx="1234440" cy="475488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0B1020"/>
                </a:solidFill>
                <a:latin typeface="Apple SD Gothic Neo"/>
                <a:ea typeface="Apple SD Gothic Neo"/>
              </a:rPr>
              <a:t>Silver</a:t>
            </a:r>
          </a:p>
        </p:txBody>
      </p:sp>
      <p:sp>
        <p:nvSpPr>
          <p:cNvPr id="33" name="desc-3"/>
          <p:cNvSpPr/>
          <p:nvPr/>
        </p:nvSpPr>
        <p:spPr>
          <a:xfrm>
            <a:off x="2240280" y="4050791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Bronze JSON 정제 후 Parquet 파티션 생성</a:t>
            </a:r>
          </a:p>
        </p:txBody>
      </p:sp>
      <p:sp>
        <p:nvSpPr>
          <p:cNvPr id="14" name="Gold"/>
          <p:cNvSpPr/>
          <p:nvPr/>
        </p:nvSpPr>
        <p:spPr>
          <a:xfrm>
            <a:off x="777240" y="4892040"/>
            <a:ext cx="1234440" cy="475488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anchor="mid"/>
          <a:lstStyle/>
          <a:p>
            <a:pPr algn="ctr"/>
            <a:r>
              <a:rPr lang="ko-KR" sz="1300" b="1">
                <a:solidFill>
                  <a:srgbClr val="0B1020"/>
                </a:solidFill>
                <a:latin typeface="Apple SD Gothic Neo"/>
                <a:ea typeface="Apple SD Gothic Neo"/>
              </a:rPr>
              <a:t>Gold</a:t>
            </a:r>
          </a:p>
        </p:txBody>
      </p:sp>
      <p:sp>
        <p:nvSpPr>
          <p:cNvPr id="34" name="desc-4"/>
          <p:cNvSpPr/>
          <p:nvPr/>
        </p:nvSpPr>
        <p:spPr>
          <a:xfrm>
            <a:off x="2240280" y="4919472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시간별 summary 파티션 완성</a:t>
            </a:r>
          </a:p>
        </p:txBody>
      </p:sp>
      <p:sp>
        <p:nvSpPr>
          <p:cNvPr id="70" name="takeaway"/>
          <p:cNvSpPr/>
          <p:nvPr/>
        </p:nvSpPr>
        <p:spPr>
          <a:xfrm>
            <a:off x="777240" y="589788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600" b="1">
                <a:solidFill>
                  <a:srgbClr val="34D399"/>
                </a:solidFill>
                <a:latin typeface="Apple SD Gothic Neo"/>
                <a:ea typeface="Apple SD Gothic Neo"/>
              </a:rPr>
              <a:t>현재 상태: 로컬 Kafka 흐름과 AWS Bronze/Silver/Gold 메달리언 구조까지 end-to-end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txBody>
          <a:bodyPr/>
          <a:lstStyle/>
          <a:p/>
        </p:txBody>
      </p:sp>
      <p:sp>
        <p:nvSpPr>
          <p:cNvPr id="50" name="kicker"/>
          <p:cNvSpPr/>
          <p:nvPr/>
        </p:nvSpPr>
        <p:spPr>
          <a:xfrm>
            <a:off x="502920" y="25603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200" b="1">
                <a:solidFill>
                  <a:srgbClr val="2DD4BF"/>
                </a:solidFill>
                <a:latin typeface="Apple SD Gothic Neo"/>
                <a:ea typeface="Apple SD Gothic Neo"/>
              </a:rPr>
              <a:t>NEXT STEPS</a:t>
            </a:r>
          </a:p>
        </p:txBody>
      </p:sp>
      <p:sp>
        <p:nvSpPr>
          <p:cNvPr id="51" name="title"/>
          <p:cNvSpPr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2500" b="1">
                <a:solidFill>
                  <a:srgbClr val="F8FAFC"/>
                </a:solidFill>
                <a:latin typeface="Apple SD Gothic Neo"/>
                <a:ea typeface="Apple SD Gothic Neo"/>
              </a:rPr>
              <a:t>다음 단계: 운영 가능한 데이터 제품으로 확장</a:t>
            </a:r>
          </a:p>
        </p:txBody>
      </p:sp>
      <p:sp>
        <p:nvSpPr>
          <p:cNvPr id="52" name="footer"/>
          <p:cNvSpPr/>
          <p:nvPr/>
        </p:nvSpPr>
        <p:spPr>
          <a:xfrm>
            <a:off x="502920" y="6400800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air-quality-project | 2026-05-07</a:t>
            </a:r>
          </a:p>
        </p:txBody>
      </p:sp>
      <p:sp>
        <p:nvSpPr>
          <p:cNvPr id="53" name="page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r"/>
            <a:r>
              <a:rPr lang="ko-KR" sz="800">
                <a:solidFill>
                  <a:srgbClr val="AAB3C5"/>
                </a:solidFill>
                <a:latin typeface="Apple SD Gothic Neo"/>
                <a:ea typeface="Apple SD Gothic Neo"/>
              </a:rPr>
              <a:t>10</a:t>
            </a:r>
          </a:p>
        </p:txBody>
      </p:sp>
      <p:sp>
        <p:nvSpPr>
          <p:cNvPr id="3" name="panel-3"/>
          <p:cNvSpPr/>
          <p:nvPr/>
        </p:nvSpPr>
        <p:spPr>
          <a:xfrm>
            <a:off x="685800" y="1325880"/>
            <a:ext cx="3246120" cy="443484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60A5FA"/>
            </a:solidFill>
          </a:ln>
        </p:spPr>
        <p:txBody>
          <a:bodyPr/>
          <a:lstStyle/>
          <a:p/>
        </p:txBody>
      </p:sp>
      <p:sp>
        <p:nvSpPr>
          <p:cNvPr id="103" name="panel-text-3"/>
          <p:cNvSpPr/>
          <p:nvPr/>
        </p:nvSpPr>
        <p:spPr>
          <a:xfrm>
            <a:off x="886968" y="1472184"/>
            <a:ext cx="2843784" cy="4178807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분석/시각화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Athena 쿼리 저장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QuickSight 대시보드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Gold 지표별 추세 차트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이상치 탐지 지표 추가</a:t>
            </a:r>
          </a:p>
        </p:txBody>
      </p:sp>
      <p:sp>
        <p:nvSpPr>
          <p:cNvPr id="4" name="panel-4"/>
          <p:cNvSpPr/>
          <p:nvPr/>
        </p:nvSpPr>
        <p:spPr>
          <a:xfrm>
            <a:off x="4480560" y="1325880"/>
            <a:ext cx="3246120" cy="443484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2DD4BF"/>
            </a:solidFill>
          </a:ln>
        </p:spPr>
        <p:txBody>
          <a:bodyPr/>
          <a:lstStyle/>
          <a:p/>
        </p:txBody>
      </p:sp>
      <p:sp>
        <p:nvSpPr>
          <p:cNvPr id="104" name="panel-text-4"/>
          <p:cNvSpPr/>
          <p:nvPr/>
        </p:nvSpPr>
        <p:spPr>
          <a:xfrm>
            <a:off x="4681728" y="1472184"/>
            <a:ext cx="2843784" cy="4178807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운영 자동화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Glue Trigger 스케줄링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Crawler 자동 실행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Firehose 실패 알람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비용/파티션 모니터링</a:t>
            </a:r>
          </a:p>
        </p:txBody>
      </p:sp>
      <p:sp>
        <p:nvSpPr>
          <p:cNvPr id="5" name="panel-5"/>
          <p:cNvSpPr/>
          <p:nvPr/>
        </p:nvSpPr>
        <p:spPr>
          <a:xfrm>
            <a:off x="8275320" y="1325880"/>
            <a:ext cx="3246120" cy="4434840"/>
          </a:xfrm>
          <a:prstGeom prst="roundRect">
            <a:avLst/>
          </a:prstGeom>
          <a:solidFill>
            <a:srgbClr val="151B2E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105" name="panel-text-5"/>
          <p:cNvSpPr/>
          <p:nvPr/>
        </p:nvSpPr>
        <p:spPr>
          <a:xfrm>
            <a:off x="8476488" y="1472184"/>
            <a:ext cx="2843784" cy="4178807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서비스화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OpenSearch Dashboard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Consumer 알림 정책 고도화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AWS 배포 구조 정리</a:t>
            </a:r>
          </a:p>
          <a:p>
            <a:pPr/>
            <a:r>
              <a:rPr lang="ko-KR" sz="1500">
                <a:solidFill>
                  <a:srgbClr val="F8FAFC"/>
                </a:solidFill>
                <a:latin typeface="Apple SD Gothic Neo"/>
                <a:ea typeface="Apple SD Gothic Neo"/>
              </a:rPr>
              <a:t>• README/아키텍처 문서 업데이트</a:t>
            </a:r>
          </a:p>
        </p:txBody>
      </p:sp>
      <p:sp>
        <p:nvSpPr>
          <p:cNvPr id="80" name="closing"/>
          <p:cNvSpPr/>
          <p:nvPr/>
        </p:nvSpPr>
        <p:spPr>
          <a:xfrm>
            <a:off x="822960" y="60533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ko-KR" sz="1500" b="1">
                <a:solidFill>
                  <a:srgbClr val="F8FAFC"/>
                </a:solidFill>
                <a:latin typeface="Apple SD Gothic Neo"/>
                <a:ea typeface="Apple SD Gothic Neo"/>
              </a:rPr>
              <a:t>핵심 방향: 수집은 자동화하고, 판정은 규칙화하고, 이력은 분석 가능한 계층으로 남긴다.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Dark">
  <a:themeElements>
    <a:clrScheme name="Codex">
      <a:dk1>
        <a:srgbClr val="0B1020"/>
      </a:dk1>
      <a:lt1>
        <a:srgbClr val="F8FAFC"/>
      </a:lt1>
      <a:dk2>
        <a:srgbClr val="151B2E"/>
      </a:dk2>
      <a:lt2>
        <a:srgbClr val="AAB3C5"/>
      </a:lt2>
      <a:accent1>
        <a:srgbClr val="2DD4BF"/>
      </a:accent1>
      <a:accent2>
        <a:srgbClr val="60A5FA"/>
      </a:accent2>
      <a:accent3>
        <a:srgbClr val="FBBF24"/>
      </a:accent3>
      <a:accent4>
        <a:srgbClr val="34D399"/>
      </a:accent4>
      <a:accent5>
        <a:srgbClr val="A78BFA"/>
      </a:accent5>
      <a:accent6>
        <a:srgbClr val="FB7185"/>
      </a:accent6>
      <a:hlink>
        <a:srgbClr val="60A5FA"/>
      </a:hlink>
      <a:folHlink>
        <a:srgbClr val="A78BFA"/>
      </a:folHlink>
    </a:clrScheme>
    <a:fontScheme name="Codex">
      <a:majorFont>
        <a:latin typeface="Apple SD Gothic Neo"/>
        <a:ea typeface="Apple SD Gothic Neo"/>
      </a:majorFont>
      <a:minorFont>
        <a:latin typeface="Apple SD Gothic Neo"/>
        <a:ea typeface="Apple SD Gothic Neo"/>
      </a:minorFont>
    </a:fontScheme>
    <a:fmtScheme name="Codex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Builder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 기상 알림 및 AWS 메달리언 파이프라인</dc:title>
  <dc:creator>Codex</dc:creator>
  <cp:lastModifiedBy>Codex</cp:lastModifiedBy>
  <dcterms:created xsi:type="dcterms:W3CDTF">2026-05-06T15:18:05Z</dcterms:created>
  <dcterms:modified xsi:type="dcterms:W3CDTF">2026-05-06T15:18:05Z</dcterms:modified>
</cp:coreProperties>
</file>